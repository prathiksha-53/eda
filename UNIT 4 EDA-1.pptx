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C021-D67B-857A-D7B0-7CA27EF3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C3968-6ADF-DBD8-0525-A64BDE321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B5CBE-C12D-6A9F-0D4A-98282D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912C-7664-8D08-2BE9-79E87743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A6CD-68E6-8075-FC10-250CE444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3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DE61-798D-F666-C259-07EC7368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EC42-CB1B-D370-F516-5A0A10F6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58A2-A717-EDD7-B322-4BDF146B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40F98-2FA6-3181-B83E-236CC255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5CEC-6BF7-D1E5-FB39-2401DF8D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D315-EB92-E24D-4961-A9B93434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BF41-40AE-49EE-A1A9-E5774530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1C89-96B1-52B5-00DA-326258C4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F8C0-D7E4-AD49-8432-6A4F9C2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F506E-E5EB-C88B-8506-7550793A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3D43-381A-4602-9350-65364002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64AE-A23A-0D5E-8B7C-1E7D5EF7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DE539-793E-1377-7B8E-B05351D6E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9ABC-E49C-FBEF-7B94-021506CD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CF82F-437F-E688-1345-BBF21CC1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3566-AEB6-0154-ED21-F0BB242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FC35-B069-0146-1068-9C40A4BA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D24C4-39C3-0C81-B5A7-E9546DF6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6ED3-3046-698A-D0FA-B4511F18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4869E-1873-8F9B-970D-2BF3F175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7518C-0033-E44D-F89A-20D6B6A99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5804C-F1B4-5607-C89C-48030D88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F24ED-A1F8-ED60-0BB9-97A2CF0B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B91B5-932E-639F-BC1C-238E9F42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B6E-6E72-5B3A-193A-E18E3BF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2CF1A-5563-7D7D-1E40-6D9E0D9C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02A6B-E8A3-B773-38DF-7A2D564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DA389-07C2-B7D2-76DB-8EC5D6E6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35AB6-014C-3D39-0496-0E601BAC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220E4-6709-DD2F-39AA-65763278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3534-56CB-015F-3DC3-57B7016E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0914-189B-1C3C-4DFB-0591C58B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CF6F0-B2C7-2FFE-0C1C-88C29624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8FB4-F685-9AA4-94BD-2B809D5F7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5265D-2FBC-0666-B52A-651CAC7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D8A52-676B-0D46-6DCC-6E0411DB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8FF-DCA3-4D95-E5DE-34C199EF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3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6911-7990-769A-61E7-F7F025EE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6621-2344-D7F1-200A-457F5A92B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68917-DC7D-D4CE-C94F-D6DE35009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DC8D8-D2E0-C7A5-0D45-E37EBA7F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C9CB4-6EF2-B050-4AF4-8F7956F1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4799E-DCD5-F9B7-9121-18A79E04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234-08D1-A96E-6FFE-EFFA3851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F4C86-F522-613B-6B05-3EFA4217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01BA-379B-C603-961D-553435A6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88C2-1FF4-7F40-5FC7-EE9D4516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199F-D9C7-1C8D-45EB-A24D8501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136F1-CF44-ADF3-AB93-B985255CC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2EF20-B99F-5E03-8ACA-8F71CB41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C52F-0F11-4096-254A-CCF8568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0A86-9B58-F77A-FF51-6B77BFD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590F-A740-6E18-0F36-9972C818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7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57453-5F6E-6579-3EF1-91320BF7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79E8-DDD2-2C85-ED5B-0B804695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C842-92F1-E2FF-C887-BF0376B7F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8485-38EB-4168-9C28-EFA3F0DF91B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2D47-1DDA-8912-D57E-35908025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3540-6622-471D-22A8-78A084123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BB5D15-3FFC-FFCD-5856-322C546AD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316523"/>
            <a:ext cx="11535508" cy="6389077"/>
          </a:xfrm>
        </p:spPr>
        <p:txBody>
          <a:bodyPr/>
          <a:lstStyle/>
          <a:p>
            <a:r>
              <a:rPr lang="en-US" b="1" dirty="0"/>
              <a:t>UNIT – IV </a:t>
            </a:r>
          </a:p>
          <a:p>
            <a:pPr marL="457200" indent="-457200" algn="l">
              <a:buAutoNum type="arabicPeriod"/>
            </a:pPr>
            <a:r>
              <a:rPr lang="en-US" sz="2800" b="1" dirty="0"/>
              <a:t>Relationships Between Two Variables</a:t>
            </a:r>
          </a:p>
          <a:p>
            <a:pPr algn="l"/>
            <a:r>
              <a:rPr lang="en-US" b="1" dirty="0"/>
              <a:t>Definition</a:t>
            </a:r>
          </a:p>
          <a:p>
            <a:pPr algn="l"/>
            <a:r>
              <a:rPr lang="en-US" dirty="0"/>
              <a:t>Relationship between two variables means </a:t>
            </a:r>
            <a:r>
              <a:rPr lang="en-US" b="1" dirty="0"/>
              <a:t>how one variable changes when another variable changes</a:t>
            </a:r>
            <a:r>
              <a:rPr lang="en-US" dirty="0"/>
              <a:t>.</a:t>
            </a:r>
          </a:p>
          <a:p>
            <a:pPr lvl="0" algn="l"/>
            <a:r>
              <a:rPr lang="en-US" dirty="0"/>
              <a:t>If one increases and the other also increases → Positive relationship </a:t>
            </a:r>
          </a:p>
          <a:p>
            <a:pPr lvl="0" algn="l"/>
            <a:r>
              <a:rPr lang="en-US" dirty="0"/>
              <a:t>If one increases and the other decreases → Negative relationship </a:t>
            </a:r>
          </a:p>
          <a:p>
            <a:pPr lvl="0" algn="l"/>
            <a:r>
              <a:rPr lang="en-US" dirty="0"/>
              <a:t>If there is no pattern → No relationship</a:t>
            </a:r>
          </a:p>
          <a:p>
            <a:pPr lvl="0" algn="l"/>
            <a:endParaRPr lang="en-US" dirty="0"/>
          </a:p>
          <a:p>
            <a:pPr lvl="0"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9556B-D5FF-DD97-070E-19E40FE4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08" y="3457122"/>
            <a:ext cx="535998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B232-4256-564C-846B-998CAC2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222738"/>
            <a:ext cx="11476893" cy="63070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Concepts</a:t>
            </a:r>
          </a:p>
          <a:p>
            <a:pPr marL="0" indent="0">
              <a:buNone/>
            </a:pPr>
            <a:r>
              <a:rPr lang="en-US" b="1" dirty="0"/>
              <a:t>1. Correlation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Correlation measures the </a:t>
            </a:r>
            <a:r>
              <a:rPr lang="en-US" b="1" dirty="0"/>
              <a:t>strength and direction</a:t>
            </a:r>
            <a:r>
              <a:rPr lang="en-US" dirty="0"/>
              <a:t> of the relationship between two numerical variables.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915AE-5DA2-0666-2AA2-005297C4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37" y="2925599"/>
            <a:ext cx="7278116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BDD89-68D9-3635-6C76-0B30A2DBC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69" y="2590800"/>
            <a:ext cx="3708160" cy="275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5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C60D-66BE-B937-8A18-5C4C7017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375138"/>
            <a:ext cx="1146517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Causation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Causation means </a:t>
            </a:r>
            <a:r>
              <a:rPr lang="en-US" b="1" dirty="0"/>
              <a:t>one variable directly causes changes in another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More Fertilizer → Better Crop Yield</a:t>
            </a:r>
          </a:p>
          <a:p>
            <a:pPr marL="0" indent="0">
              <a:buNone/>
            </a:pPr>
            <a:r>
              <a:rPr lang="en-US" dirty="0"/>
              <a:t>Here fertilizer directly affects crop growth.</a:t>
            </a:r>
          </a:p>
          <a:p>
            <a:pPr marL="0" indent="0">
              <a:buNone/>
            </a:pPr>
            <a:r>
              <a:rPr lang="en-US" b="1" dirty="0"/>
              <a:t>Important Point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Correlation </a:t>
            </a:r>
            <a:r>
              <a:rPr lang="en-US" b="1" dirty="0"/>
              <a:t>does not always mean</a:t>
            </a:r>
            <a:r>
              <a:rPr lang="en-US" dirty="0"/>
              <a:t> causation.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Ice Cream Sales ↑ and Drowning Cases ↑</a:t>
            </a:r>
          </a:p>
          <a:p>
            <a:pPr marL="0" indent="0">
              <a:buNone/>
            </a:pPr>
            <a:r>
              <a:rPr lang="en-US" dirty="0"/>
              <a:t>Both increase during summer, but ice cream does </a:t>
            </a:r>
            <a:r>
              <a:rPr lang="en-US" b="1" dirty="0"/>
              <a:t>not</a:t>
            </a:r>
            <a:r>
              <a:rPr lang="en-US" dirty="0"/>
              <a:t> cause drowning.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1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7A76-776B-D36F-D7EE-4F913430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339968"/>
            <a:ext cx="11430000" cy="6213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Association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Association means two variables are related, but one may not necessarily cause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Umbrella Sales ↑ and Rainfall ↑</a:t>
            </a:r>
          </a:p>
          <a:p>
            <a:pPr marL="0" indent="0">
              <a:buNone/>
            </a:pPr>
            <a:r>
              <a:rPr lang="en-US" dirty="0"/>
              <a:t>Rain increases umbrella sales.</a:t>
            </a:r>
          </a:p>
          <a:p>
            <a:pPr marL="0" indent="0">
              <a:buNone/>
            </a:pPr>
            <a:r>
              <a:rPr lang="en-US" dirty="0"/>
              <a:t>There is an association.</a:t>
            </a:r>
          </a:p>
          <a:p>
            <a:pPr marL="0" indent="0">
              <a:buNone/>
            </a:pPr>
            <a:r>
              <a:rPr lang="en-US" b="1" dirty="0"/>
              <a:t>4. Independence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Two variables are independent if one variable does </a:t>
            </a:r>
            <a:r>
              <a:rPr lang="en-US" b="1" dirty="0"/>
              <a:t>not affect</a:t>
            </a:r>
            <a:r>
              <a:rPr lang="en-US" dirty="0"/>
              <a:t>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Student Roll Number and Height</a:t>
            </a:r>
          </a:p>
          <a:p>
            <a:pPr marL="0" indent="0">
              <a:buNone/>
            </a:pPr>
            <a:r>
              <a:rPr lang="en-US" dirty="0"/>
              <a:t>These variables have no relationship.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83E88-DE7C-FCCA-92DC-06683930A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69" y="550985"/>
            <a:ext cx="10222523" cy="58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9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AE1D-3AA5-5BA2-B37A-8E72299C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85" y="246185"/>
            <a:ext cx="11652737" cy="642424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Bivariate Analysis Percentage tables (also known as proportion tables or relative frequency tables) are used to understand the distribution and relationship between two categorical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They provide a clear and concise way to visualize the proportion of observations in each category combination of the two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These tables help in identifying patterns, associations, and potential dependencies between the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Concepts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Frequency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displays the count of occurrences for each combination of categories in two categorical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converts the counts from a frequency table into percentages, making it easier to interpret the proportions.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Row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row category within the corresponding column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Column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column category within the corresponding row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Overall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cell relative to the total number of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389892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AE6-38CF-CF4C-E044-087F2CCC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07" y="304800"/>
            <a:ext cx="11383107" cy="636563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Relative Frequency Distribution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Relative frequency is the </a:t>
            </a:r>
            <a:r>
              <a:rPr lang="en-US" b="1" dirty="0"/>
              <a:t>proportion of observations</a:t>
            </a:r>
            <a:r>
              <a:rPr lang="en-US" dirty="0"/>
              <a:t> in each category.</a:t>
            </a:r>
          </a:p>
          <a:p>
            <a:pPr marL="0" indent="0">
              <a:buNone/>
            </a:pPr>
            <a:r>
              <a:rPr lang="en-US" dirty="0"/>
              <a:t>Formula</a:t>
            </a:r>
          </a:p>
          <a:p>
            <a:pPr marL="0" indent="0">
              <a:buNone/>
            </a:pPr>
            <a:r>
              <a:rPr lang="en-US" b="1" dirty="0"/>
              <a:t>Relative Frequency = Frequency / Total Frequency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006F8-8E8F-C605-AE2D-D8711349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77" y="2992836"/>
            <a:ext cx="8499231" cy="343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F0E10-7740-CD95-5563-FBFC2C81E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1952"/>
            <a:ext cx="11430000" cy="63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7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906364-0BC6-5BA2-2524-8CAB17099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84" y="316523"/>
            <a:ext cx="11636053" cy="623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5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BB588-7AB7-82B3-323C-D810BA2BE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77" y="304800"/>
            <a:ext cx="1153550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5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386E9-E420-E3B4-9358-53D66E988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92" y="351692"/>
            <a:ext cx="11793415" cy="627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5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B764FC-3480-6258-AA56-B7954F2F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339969"/>
            <a:ext cx="11371384" cy="621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0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39D72-9F65-B481-B7C0-1DC14B76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386862"/>
            <a:ext cx="11676185" cy="614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1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13D01-9B82-1C9C-A0F9-F4A550AB4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93077"/>
            <a:ext cx="11500338" cy="5017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DC65C-5DDC-55F4-756C-FF4D5E5F7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058" y="5351585"/>
            <a:ext cx="5429234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0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70A3B-BEA6-5F2D-9844-078AC5E5F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5" y="375138"/>
            <a:ext cx="11641015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3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017BA-78EB-1613-A0A8-777030048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24" y="257908"/>
            <a:ext cx="11605846" cy="6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0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9207D-EDDD-BAFF-53BE-FEDDA47FA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4" y="316522"/>
            <a:ext cx="11758247" cy="634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3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E614-B051-8E94-5665-A1E515FF4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339969"/>
            <a:ext cx="11429999" cy="6400800"/>
          </a:xfrm>
        </p:spPr>
        <p:txBody>
          <a:bodyPr/>
          <a:lstStyle/>
          <a:p>
            <a:r>
              <a:rPr lang="en-US" dirty="0"/>
              <a:t>Why Handle Several Batches?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45861-EDA7-E8E9-E81A-48125DC3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77" y="1204601"/>
            <a:ext cx="11429999" cy="544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74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19F455-0A75-21C9-63AB-150D69044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354" y="155671"/>
            <a:ext cx="10867292" cy="3548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1E7225-06DB-7780-5201-D934C44FA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319" y="3892062"/>
            <a:ext cx="465837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8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BA9D-B3CA-9F32-944A-5951BFE35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684" y="222739"/>
            <a:ext cx="10515600" cy="5919055"/>
          </a:xfrm>
        </p:spPr>
        <p:txBody>
          <a:bodyPr/>
          <a:lstStyle/>
          <a:p>
            <a:r>
              <a:rPr lang="en-US" dirty="0"/>
              <a:t>Compare Distribution Across Batches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2FE6B-0422-5C73-8909-F096D285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83" y="832337"/>
            <a:ext cx="10515599" cy="55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92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D576-8D5E-AF2D-2E71-B8E04FC73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31" y="316523"/>
            <a:ext cx="11535507" cy="6400800"/>
          </a:xfrm>
        </p:spPr>
        <p:txBody>
          <a:bodyPr/>
          <a:lstStyle/>
          <a:p>
            <a:r>
              <a:rPr lang="en-US" dirty="0"/>
              <a:t>Handling Several Batches Using Stratified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3D4EB-8345-4E82-3C20-47A499348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9" y="922075"/>
            <a:ext cx="10597662" cy="56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23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B7C32-08AB-E34E-C3E0-5D5FD3E9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0308"/>
            <a:ext cx="10515600" cy="57666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EDA Techniques for Multiple Batches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F827D-5C53-6E89-11DC-0E1FF3F8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150" y="1318917"/>
            <a:ext cx="8014311" cy="465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21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E4E4-7C83-A5FE-EDBB-037875761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7" y="386862"/>
            <a:ext cx="11523785" cy="60139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Resistant Lines in EDA</a:t>
            </a:r>
          </a:p>
          <a:p>
            <a:pPr marL="0" indent="0" algn="just">
              <a:buNone/>
            </a:pPr>
            <a:r>
              <a:rPr lang="en-US" b="1" dirty="0"/>
              <a:t>1. What is a Resistant Line?</a:t>
            </a:r>
          </a:p>
          <a:p>
            <a:pPr marL="0" indent="0" algn="just">
              <a:buNone/>
            </a:pPr>
            <a:r>
              <a:rPr lang="en-US" dirty="0"/>
              <a:t>A </a:t>
            </a:r>
            <a:r>
              <a:rPr lang="en-US" b="1" dirty="0"/>
              <a:t>resistant line</a:t>
            </a:r>
            <a:r>
              <a:rPr lang="en-US" dirty="0"/>
              <a:t> is a regression line designed to show the </a:t>
            </a:r>
            <a:r>
              <a:rPr lang="en-US" b="1" dirty="0"/>
              <a:t>central trend of the data without being strongly affected by extreme values (outliers)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It is also called a </a:t>
            </a:r>
            <a:r>
              <a:rPr lang="en-US" b="1" dirty="0"/>
              <a:t>robust regression line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b="1" dirty="0"/>
              <a:t>Simple Meaning</a:t>
            </a:r>
          </a:p>
          <a:p>
            <a:pPr marL="0" indent="0" algn="just">
              <a:buNone/>
            </a:pPr>
            <a:r>
              <a:rPr lang="en-US" dirty="0"/>
              <a:t>A resistant line tries to represent the </a:t>
            </a:r>
            <a:r>
              <a:rPr lang="en-US" b="1" dirty="0"/>
              <a:t>majority of the data</a:t>
            </a:r>
            <a:r>
              <a:rPr lang="en-US" dirty="0"/>
              <a:t>, rather than allowing a few unusual observations to pull the line toward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70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870A-A4A9-3A33-1C37-ED03DCCF8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8" y="527538"/>
            <a:ext cx="11289324" cy="58967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Why Do We Need Resistant Lines?</a:t>
            </a:r>
          </a:p>
          <a:p>
            <a:pPr marL="0" indent="0" algn="just">
              <a:buNone/>
            </a:pPr>
            <a:r>
              <a:rPr lang="en-US" dirty="0"/>
              <a:t>Consider a dataset showing: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House Size vs House Price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Most houses follow a normal pattern:</a:t>
            </a:r>
          </a:p>
          <a:p>
            <a:pPr marL="0" lvl="0" indent="0" algn="just">
              <a:buNone/>
            </a:pPr>
            <a:r>
              <a:rPr lang="en-US" dirty="0"/>
              <a:t>Small house → Lower price </a:t>
            </a:r>
          </a:p>
          <a:p>
            <a:pPr marL="0" lvl="0" indent="0" algn="just">
              <a:buNone/>
            </a:pPr>
            <a:r>
              <a:rPr lang="en-US" dirty="0"/>
              <a:t>Large house → Higher price </a:t>
            </a:r>
          </a:p>
          <a:p>
            <a:pPr marL="0" indent="0" algn="just">
              <a:buNone/>
            </a:pPr>
            <a:r>
              <a:rPr lang="en-US" dirty="0"/>
              <a:t>But suppose one luxury house has an </a:t>
            </a:r>
            <a:r>
              <a:rPr lang="en-US" b="1" dirty="0"/>
              <a:t>extremely high price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A traditional </a:t>
            </a:r>
            <a:r>
              <a:rPr lang="en-US" b="1" dirty="0"/>
              <a:t>least-squares regression line</a:t>
            </a:r>
            <a:r>
              <a:rPr lang="en-US" dirty="0"/>
              <a:t> can be pulled toward this unusual house.</a:t>
            </a:r>
          </a:p>
          <a:p>
            <a:pPr marL="0" indent="0" algn="just">
              <a:buNone/>
            </a:pPr>
            <a:r>
              <a:rPr lang="en-US" dirty="0"/>
              <a:t>A resistant line reduces the influence of that outlier.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45779-3413-1A0C-302E-16ACFDE2B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460" y="433754"/>
            <a:ext cx="5428402" cy="351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16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231CD0-DB2B-D9E1-5AEB-1ADE6F558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693" y="269630"/>
            <a:ext cx="11394830" cy="641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15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501D3A-F438-036E-9B6C-605676974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534" y="363305"/>
            <a:ext cx="10645235" cy="62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14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9514DE-C5A8-81A9-A74B-6CA959160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620" y="364535"/>
            <a:ext cx="9391226" cy="594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83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7F5A-C039-F7C1-663A-913249EF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5" y="375138"/>
            <a:ext cx="11465168" cy="61780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200" b="1" dirty="0"/>
              <a:t>Feature Selection and Importance Scores in EDA</a:t>
            </a:r>
          </a:p>
          <a:p>
            <a:pPr marL="0" indent="0" algn="just">
              <a:buNone/>
            </a:pPr>
            <a:r>
              <a:rPr lang="en-US" sz="3000" dirty="0"/>
              <a:t>Feature Selection and Feature Importance are important techniques used to identify </a:t>
            </a:r>
            <a:r>
              <a:rPr lang="en-US" sz="3000" b="1" dirty="0"/>
              <a:t>which variables are useful for predicting a target variable</a:t>
            </a:r>
            <a:r>
              <a:rPr lang="en-US" sz="3000" dirty="0"/>
              <a:t>.</a:t>
            </a:r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r>
              <a:rPr lang="en-US" sz="3000" dirty="0"/>
              <a:t>What is Feature Selection?</a:t>
            </a:r>
            <a:endParaRPr lang="en-US" sz="3000" b="1" dirty="0"/>
          </a:p>
          <a:p>
            <a:pPr marL="0" indent="0" algn="just">
              <a:buNone/>
            </a:pPr>
            <a:r>
              <a:rPr lang="en-US" sz="3000" b="1" dirty="0"/>
              <a:t>Feature Selection</a:t>
            </a:r>
            <a:r>
              <a:rPr lang="en-US" sz="3000" dirty="0"/>
              <a:t> is the process of selecting a </a:t>
            </a:r>
            <a:r>
              <a:rPr lang="en-US" sz="3000" b="1" dirty="0"/>
              <a:t>subset of relevant features (variables)</a:t>
            </a:r>
            <a:r>
              <a:rPr lang="en-US" sz="3000" dirty="0"/>
              <a:t> from a dataset for building a predictive model.</a:t>
            </a:r>
          </a:p>
          <a:p>
            <a:pPr marL="0" indent="0" algn="just">
              <a:buNone/>
            </a:pPr>
            <a:endParaRPr lang="en-US" sz="3000" b="1" dirty="0"/>
          </a:p>
          <a:p>
            <a:pPr marL="0" indent="0" algn="just">
              <a:buNone/>
            </a:pPr>
            <a:r>
              <a:rPr lang="en-US" sz="3000" b="1" dirty="0"/>
              <a:t>Why Do We Need Feature Selection?</a:t>
            </a:r>
          </a:p>
          <a:p>
            <a:pPr marL="0" indent="0" algn="just">
              <a:buNone/>
            </a:pPr>
            <a:r>
              <a:rPr lang="en-US" sz="3000" b="1" dirty="0"/>
              <a:t>1. Improve Model Accuracy</a:t>
            </a:r>
          </a:p>
          <a:p>
            <a:pPr marL="0" indent="0" algn="just">
              <a:buNone/>
            </a:pPr>
            <a:r>
              <a:rPr lang="en-US" sz="3000" dirty="0"/>
              <a:t>Irrelevant features can introduce </a:t>
            </a:r>
            <a:r>
              <a:rPr lang="en-US" sz="3000" b="1" dirty="0"/>
              <a:t>noise</a:t>
            </a:r>
            <a:r>
              <a:rPr lang="en-US" sz="3000" dirty="0"/>
              <a:t>.</a:t>
            </a:r>
          </a:p>
          <a:p>
            <a:pPr marL="0" indent="0" algn="just">
              <a:buNone/>
            </a:pPr>
            <a:r>
              <a:rPr lang="en-US" sz="3000" dirty="0"/>
              <a:t>Removing them allows the model to focus on useful information.</a:t>
            </a:r>
          </a:p>
          <a:p>
            <a:pPr marL="0" indent="0" algn="just">
              <a:buNone/>
            </a:pPr>
            <a:r>
              <a:rPr lang="en-US" sz="3000" b="1" dirty="0"/>
              <a:t>Example:</a:t>
            </a:r>
            <a:endParaRPr lang="en-US" sz="3000" dirty="0"/>
          </a:p>
          <a:p>
            <a:pPr marL="0" indent="0" algn="just">
              <a:buNone/>
            </a:pPr>
            <a:r>
              <a:rPr lang="en-US" sz="3000" dirty="0"/>
              <a:t>If predicting exam results, </a:t>
            </a:r>
            <a:r>
              <a:rPr lang="en-US" sz="3000" b="1" dirty="0"/>
              <a:t>Study Hours</a:t>
            </a:r>
            <a:r>
              <a:rPr lang="en-US" sz="3000" dirty="0"/>
              <a:t> is likely useful, while </a:t>
            </a:r>
            <a:r>
              <a:rPr lang="en-US" sz="3000" b="1" dirty="0"/>
              <a:t>Favorite Color</a:t>
            </a:r>
            <a:r>
              <a:rPr lang="en-US" sz="3000" dirty="0"/>
              <a:t> is unlikely to help.</a:t>
            </a:r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71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E4FF-D1B5-F018-19D8-52F1A0ECF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398584"/>
            <a:ext cx="11388969" cy="607255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2. Reduce Computational Cost</a:t>
            </a:r>
          </a:p>
          <a:p>
            <a:pPr marL="0" indent="0">
              <a:buNone/>
            </a:pPr>
            <a:r>
              <a:rPr lang="en-US" sz="2400" dirty="0"/>
              <a:t>Fewer features mean:</a:t>
            </a:r>
          </a:p>
          <a:p>
            <a:pPr marL="0" lvl="0" indent="0">
              <a:buNone/>
            </a:pPr>
            <a:r>
              <a:rPr lang="en-US" sz="2400" dirty="0"/>
              <a:t>Less data processing </a:t>
            </a:r>
          </a:p>
          <a:p>
            <a:pPr marL="0" lvl="0" indent="0">
              <a:buNone/>
            </a:pPr>
            <a:r>
              <a:rPr lang="en-US" sz="2400" dirty="0"/>
              <a:t>Faster model training </a:t>
            </a:r>
          </a:p>
          <a:p>
            <a:pPr marL="0" lvl="0" indent="0">
              <a:buNone/>
            </a:pPr>
            <a:r>
              <a:rPr lang="en-US" sz="2400" dirty="0"/>
              <a:t>Less memory usage </a:t>
            </a:r>
          </a:p>
          <a:p>
            <a:pPr marL="0" indent="0">
              <a:buNone/>
            </a:pPr>
            <a:r>
              <a:rPr lang="en-US" sz="2400" b="1" dirty="0"/>
              <a:t>Example</a:t>
            </a:r>
          </a:p>
          <a:p>
            <a:pPr marL="0" indent="0">
              <a:buNone/>
            </a:pPr>
            <a:r>
              <a:rPr lang="en-US" sz="2400" dirty="0"/>
              <a:t>Instead of processing </a:t>
            </a:r>
            <a:r>
              <a:rPr lang="en-US" sz="2400" b="1" dirty="0"/>
              <a:t>100 features</a:t>
            </a:r>
            <a:r>
              <a:rPr lang="en-US" sz="2400" dirty="0"/>
              <a:t>, we may select only the </a:t>
            </a:r>
            <a:r>
              <a:rPr lang="en-US" sz="2400" b="1" dirty="0"/>
              <a:t>20 most useful features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3. Reduce Overfitting</a:t>
            </a:r>
          </a:p>
          <a:p>
            <a:pPr marL="0" indent="0">
              <a:buNone/>
            </a:pPr>
            <a:r>
              <a:rPr lang="en-US" sz="2400" dirty="0"/>
              <a:t>If a model uses too many irrelevant features, it may learn unnecessary patterns from the training data.</a:t>
            </a:r>
          </a:p>
          <a:p>
            <a:pPr marL="0" indent="0">
              <a:buNone/>
            </a:pPr>
            <a:r>
              <a:rPr lang="en-US" sz="2400" dirty="0"/>
              <a:t>Removing irrelevant or redundant features can help the model </a:t>
            </a:r>
            <a:r>
              <a:rPr lang="en-US" sz="2400" b="1" dirty="0"/>
              <a:t>generalize better to new data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138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B6B04-E56B-E6E6-710A-877DA7AD7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23" y="386862"/>
            <a:ext cx="11371385" cy="62601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Methods of Feature Selection</a:t>
            </a:r>
          </a:p>
          <a:p>
            <a:pPr marL="0" indent="0">
              <a:buNone/>
            </a:pPr>
            <a:r>
              <a:rPr lang="en-US" dirty="0"/>
              <a:t>There are three major approaches:</a:t>
            </a:r>
          </a:p>
          <a:p>
            <a:pPr marL="0" indent="0">
              <a:buNone/>
            </a:pPr>
            <a:r>
              <a:rPr lang="en-US" b="1" dirty="0"/>
              <a:t>1. Filter Methods</a:t>
            </a:r>
          </a:p>
          <a:p>
            <a:pPr marL="0" indent="0">
              <a:buNone/>
            </a:pPr>
            <a:r>
              <a:rPr lang="en-US" b="1" dirty="0"/>
              <a:t>2. Wrapper Methods</a:t>
            </a:r>
          </a:p>
          <a:p>
            <a:pPr marL="0" indent="0">
              <a:buNone/>
            </a:pPr>
            <a:r>
              <a:rPr lang="en-US" b="1" dirty="0"/>
              <a:t>3. Embedded Methods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Filter Methods</a:t>
            </a:r>
          </a:p>
          <a:p>
            <a:pPr marL="0" indent="0" algn="just">
              <a:buNone/>
            </a:pPr>
            <a:r>
              <a:rPr lang="en-US" dirty="0"/>
              <a:t>Filter methods select features using </a:t>
            </a:r>
            <a:r>
              <a:rPr lang="en-US" b="1" dirty="0"/>
              <a:t>statistical measures</a:t>
            </a:r>
            <a:r>
              <a:rPr lang="en-US" dirty="0"/>
              <a:t>, without training a machine learning model for every feature subset.</a:t>
            </a:r>
          </a:p>
          <a:p>
            <a:pPr marL="0" indent="0" algn="just">
              <a:buNone/>
            </a:pPr>
            <a:r>
              <a:rPr lang="en-US" b="1" dirty="0"/>
              <a:t>Examples</a:t>
            </a:r>
          </a:p>
          <a:p>
            <a:pPr marL="0" lvl="0" indent="0" algn="just">
              <a:buNone/>
            </a:pPr>
            <a:r>
              <a:rPr lang="en-US" dirty="0"/>
              <a:t>Chi-Square Test </a:t>
            </a:r>
          </a:p>
          <a:p>
            <a:pPr marL="0" lvl="0" indent="0" algn="just">
              <a:buNone/>
            </a:pPr>
            <a:r>
              <a:rPr lang="en-US" dirty="0"/>
              <a:t>ANOVA F-Test </a:t>
            </a:r>
          </a:p>
          <a:p>
            <a:pPr marL="0" lvl="0" indent="0" algn="just">
              <a:buNone/>
            </a:pPr>
            <a:r>
              <a:rPr lang="en-US" dirty="0"/>
              <a:t>Correlation </a:t>
            </a:r>
          </a:p>
          <a:p>
            <a:pPr marL="0" lvl="0" indent="0" algn="just">
              <a:buNone/>
            </a:pPr>
            <a:r>
              <a:rPr lang="en-US" dirty="0"/>
              <a:t>Mutual Information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B2905-E961-0DF4-55EE-9B495E37B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1015"/>
            <a:ext cx="5591908" cy="275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09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415B7-A153-675D-4B4E-566CE9B84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9" y="304800"/>
            <a:ext cx="11324492" cy="629529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Wrapper Methods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Wrapper methods use a </a:t>
            </a:r>
            <a:r>
              <a:rPr lang="en-US" b="1" dirty="0"/>
              <a:t>machine learning model</a:t>
            </a:r>
            <a:r>
              <a:rPr lang="en-US" dirty="0"/>
              <a:t> to evaluate different combinations of features.</a:t>
            </a:r>
          </a:p>
          <a:p>
            <a:pPr marL="0" indent="0">
              <a:buNone/>
            </a:pPr>
            <a:r>
              <a:rPr lang="en-US" dirty="0"/>
              <a:t>One important method is:</a:t>
            </a:r>
          </a:p>
          <a:p>
            <a:pPr marL="0" indent="0">
              <a:buNone/>
            </a:pPr>
            <a:r>
              <a:rPr lang="en-US" b="1" dirty="0"/>
              <a:t>Recursive Feature Elimination (RFE)</a:t>
            </a:r>
          </a:p>
          <a:p>
            <a:pPr marL="0" indent="0">
              <a:buNone/>
            </a:pPr>
            <a:r>
              <a:rPr lang="en-US" dirty="0"/>
              <a:t>RFE works approximately like this: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Key Point</a:t>
            </a:r>
          </a:p>
          <a:p>
            <a:pPr marL="0" indent="0">
              <a:buNone/>
            </a:pPr>
            <a:r>
              <a:rPr lang="en-US" sz="2400" b="1" dirty="0"/>
              <a:t>Wrapper = Use a model to find the best feature subset.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73D15-F89C-1BB7-68F1-6448A6FF9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565" y="1991633"/>
            <a:ext cx="4516142" cy="41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5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A0721-F44A-4842-E1D7-578C3B4A6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398584"/>
            <a:ext cx="11476893" cy="62015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Embedded Methods</a:t>
            </a:r>
          </a:p>
          <a:p>
            <a:pPr marL="0" indent="0">
              <a:buNone/>
            </a:pPr>
            <a:r>
              <a:rPr lang="en-US" dirty="0"/>
              <a:t>In </a:t>
            </a:r>
            <a:r>
              <a:rPr lang="en-US" b="1" dirty="0"/>
              <a:t>Embedded Methods</a:t>
            </a:r>
            <a:r>
              <a:rPr lang="en-US" dirty="0"/>
              <a:t>, feature selection happens </a:t>
            </a:r>
            <a:r>
              <a:rPr lang="en-US" b="1" dirty="0"/>
              <a:t>during the model training process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Example: Lasso Regression</a:t>
            </a:r>
          </a:p>
          <a:p>
            <a:pPr marL="0" indent="0">
              <a:buNone/>
            </a:pPr>
            <a:r>
              <a:rPr lang="en-US" dirty="0"/>
              <a:t>Lasso uses </a:t>
            </a:r>
            <a:r>
              <a:rPr lang="en-US" b="1" dirty="0"/>
              <a:t>L1 regularization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It can shrink some feature coefficients to </a:t>
            </a:r>
            <a:r>
              <a:rPr lang="en-US" b="1" dirty="0"/>
              <a:t>zero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Key Point</a:t>
            </a:r>
          </a:p>
          <a:p>
            <a:pPr marL="0" indent="0">
              <a:buNone/>
            </a:pPr>
            <a:r>
              <a:rPr lang="en-US" sz="2400" b="1" dirty="0"/>
              <a:t>Embedded = Feature selection happens while the model is being trained.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99BA5-483E-4733-97B9-8049AB74B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24" y="1336431"/>
            <a:ext cx="4677507" cy="432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76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C0325-E0AD-2B70-92E9-898DCCB06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398585"/>
            <a:ext cx="11336214" cy="6119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are Feature Importance Scores?</a:t>
            </a:r>
          </a:p>
          <a:p>
            <a:pPr marL="0" indent="0">
              <a:buNone/>
            </a:pPr>
            <a:r>
              <a:rPr lang="en-US" b="1" dirty="0"/>
              <a:t>Feature Importance Score</a:t>
            </a:r>
            <a:r>
              <a:rPr lang="en-US" dirty="0"/>
              <a:t> indicates how useful or influential a feature is in making predictions.</a:t>
            </a:r>
          </a:p>
          <a:p>
            <a:pPr marL="0" indent="0">
              <a:buNone/>
            </a:pPr>
            <a:r>
              <a:rPr lang="en-US" dirty="0"/>
              <a:t>Many machine learning models can calculate feature importance.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pPr marL="0" lvl="0" indent="0">
              <a:buNone/>
            </a:pPr>
            <a:r>
              <a:rPr lang="en-US" dirty="0"/>
              <a:t>Random Forest </a:t>
            </a:r>
          </a:p>
          <a:p>
            <a:pPr marL="0" lvl="0" indent="0">
              <a:buNone/>
            </a:pPr>
            <a:r>
              <a:rPr lang="en-US" dirty="0"/>
              <a:t>Gradient Boosting </a:t>
            </a:r>
          </a:p>
          <a:p>
            <a:pPr marL="0" lvl="0" indent="0">
              <a:buNone/>
            </a:pPr>
            <a:r>
              <a:rPr lang="en-US" dirty="0"/>
              <a:t>Decision Trees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F54EB-CB77-0CD4-C13E-EE8DB3313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350" y="2386130"/>
            <a:ext cx="852606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47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C1D97-3167-73A1-2C9D-B50AB1D2F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23" y="316522"/>
            <a:ext cx="11441723" cy="6318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Summary</a:t>
            </a:r>
          </a:p>
          <a:p>
            <a:pPr marL="0" indent="0">
              <a:buNone/>
            </a:pPr>
            <a:r>
              <a:rPr lang="en-US" sz="2000" b="1" dirty="0"/>
              <a:t>Feature Selection</a:t>
            </a:r>
          </a:p>
          <a:p>
            <a:pPr marL="0" indent="0">
              <a:buNone/>
            </a:pPr>
            <a:r>
              <a:rPr lang="en-US" sz="2000" b="1" dirty="0"/>
              <a:t>Select the most relevant features and remove unnecessary ones.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Three Methods</a:t>
            </a:r>
          </a:p>
          <a:p>
            <a:pPr marL="0" lvl="0" indent="0">
              <a:buNone/>
            </a:pPr>
            <a:r>
              <a:rPr lang="en-US" sz="2000" b="1" dirty="0"/>
              <a:t>Filter</a:t>
            </a:r>
            <a:r>
              <a:rPr lang="en-US" sz="2000" dirty="0"/>
              <a:t> → Statistical tests </a:t>
            </a:r>
          </a:p>
          <a:p>
            <a:pPr marL="0" lvl="0" indent="0">
              <a:buNone/>
            </a:pPr>
            <a:r>
              <a:rPr lang="en-US" sz="2000" b="1" dirty="0"/>
              <a:t>Wrapper</a:t>
            </a:r>
            <a:r>
              <a:rPr lang="en-US" sz="2000" dirty="0"/>
              <a:t> → Model-based feature selection </a:t>
            </a:r>
          </a:p>
          <a:p>
            <a:pPr marL="0" lvl="0" indent="0">
              <a:buNone/>
            </a:pPr>
            <a:r>
              <a:rPr lang="en-US" sz="2000" b="1" dirty="0"/>
              <a:t>Embedded</a:t>
            </a:r>
            <a:r>
              <a:rPr lang="en-US" sz="2000" dirty="0"/>
              <a:t> → Selection during model training </a:t>
            </a:r>
          </a:p>
          <a:p>
            <a:pPr marL="0" indent="0">
              <a:buNone/>
            </a:pPr>
            <a:r>
              <a:rPr lang="en-US" sz="2000" b="1" dirty="0"/>
              <a:t>Feature Importance</a:t>
            </a:r>
          </a:p>
          <a:p>
            <a:pPr marL="0" indent="0">
              <a:buNone/>
            </a:pPr>
            <a:r>
              <a:rPr lang="en-US" sz="2000" b="1" dirty="0"/>
              <a:t>Measures how much each feature contributes to model predictions.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Easy Way to Remember</a:t>
            </a:r>
          </a:p>
          <a:p>
            <a:pPr marL="0" indent="0">
              <a:buNone/>
            </a:pPr>
            <a:r>
              <a:rPr lang="en-US" sz="2000" b="1" dirty="0"/>
              <a:t>Filter → Test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Wrapper → Try different subsets</a:t>
            </a:r>
          </a:p>
          <a:p>
            <a:pPr marL="0" indent="0">
              <a:buNone/>
            </a:pPr>
            <a:r>
              <a:rPr lang="en-US" sz="2000" b="1" dirty="0"/>
              <a:t>Embedded → Select while learning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Importance Score → Rank the features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8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981</Words>
  <Application>Microsoft Office PowerPoint</Application>
  <PresentationFormat>Widescreen</PresentationFormat>
  <Paragraphs>151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haran</dc:creator>
  <cp:lastModifiedBy>hari haran</cp:lastModifiedBy>
  <cp:revision>6</cp:revision>
  <dcterms:created xsi:type="dcterms:W3CDTF">2026-08-03T05:33:01Z</dcterms:created>
  <dcterms:modified xsi:type="dcterms:W3CDTF">2026-08-18T03:08:05Z</dcterms:modified>
</cp:coreProperties>
</file>