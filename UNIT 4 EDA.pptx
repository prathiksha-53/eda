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8C021-D67B-857A-D7B0-7CA27EF31D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4C3968-6ADF-DBD8-0525-A64BDE3215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B5CBE-C12D-6A9F-0D4A-98282D91D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8485-38EB-4168-9C28-EFA3F0DF91B1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2912C-7664-8D08-2BE9-79E877434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5A6CD-68E6-8075-FC10-250CE444B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732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DDE61-798D-F666-C259-07EC73685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2EC42-CB1B-D370-F516-5A0A10F6A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D58A2-A717-EDD7-B322-4BDF146B3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8485-38EB-4168-9C28-EFA3F0DF91B1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40F98-2FA6-3181-B83E-236CC255F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B5CEC-6BF7-D1E5-FB39-2401DF8D6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414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9D315-EB92-E24D-4961-A9B934347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4BF41-40AE-49EE-A1A9-E5774530A6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91C89-96B1-52B5-00DA-326258C49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8485-38EB-4168-9C28-EFA3F0DF91B1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3F8C0-D7E4-AD49-8432-6A4F9C274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F506E-E5EB-C88B-8506-7550793AF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61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A3D43-381A-4602-9350-653640029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264AE-A23A-0D5E-8B7C-1E7D5EF71C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6DE539-793E-1377-7B8E-B05351D6E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FF9ABC-E49C-FBEF-7B94-021506CD1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8485-38EB-4168-9C28-EFA3F0DF91B1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9CF82F-437F-E688-1345-BBF21CC15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C13566-AEB6-0154-ED21-F0BB24267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572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6FC35-B069-0146-1068-9C40A4BA5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D24C4-39C3-0C81-B5A7-E9546DF6E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366ED3-3046-698A-D0FA-B4511F186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C4869E-1873-8F9B-970D-2BF3F17553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47518C-0033-E44D-F89A-20D6B6A997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15804C-F1B4-5607-C89C-48030D883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8485-38EB-4168-9C28-EFA3F0DF91B1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5F24ED-A1F8-ED60-0BB9-97A2CF0BA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6B91B5-932E-639F-BC1C-238E9F429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86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1FB6E-6E72-5B3A-193A-E18E3BF75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B2CF1A-5563-7D7D-1E40-6D9E0D9C0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8485-38EB-4168-9C28-EFA3F0DF91B1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802A6B-E8A3-B773-38DF-7A2D56459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DDA389-07C2-B7D2-76DB-8EC5D6E6B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494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735AB6-014C-3D39-0496-0E601BAC3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8485-38EB-4168-9C28-EFA3F0DF91B1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F220E4-6709-DD2F-39AA-657632780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F53534-56CB-015F-3DC3-57B7016EE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042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A0914-189B-1C3C-4DFB-0591C58B8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CF6F0-B2C7-2FFE-0C1C-88C29624C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9C8FB4-F685-9AA4-94BD-2B809D5F78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05265D-2FBC-0666-B52A-651CAC76D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8485-38EB-4168-9C28-EFA3F0DF91B1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D8A52-676B-0D46-6DCC-6E0411DBA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E3E8FF-DCA3-4D95-E5DE-34C199EF7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939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46911-7990-769A-61E7-F7F025EED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EE6621-2344-D7F1-200A-457F5A92B5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D68917-DC7D-D4CE-C94F-D6DE350090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1DC8D8-D2E0-C7A5-0D45-E37EBA7F7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8485-38EB-4168-9C28-EFA3F0DF91B1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2C9CB4-6EF2-B050-4AF4-8F7956F14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B4799E-DCD5-F9B7-9121-18A79E04F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74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98234-08D1-A96E-6FFE-EFFA38510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FF4C86-F522-613B-6B05-3EFA42172F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701BA-379B-C603-961D-553435A64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8485-38EB-4168-9C28-EFA3F0DF91B1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A88C2-1FF4-7F40-5FC7-EE9D4516B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9199F-D9C7-1C8D-45EB-A24D8501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588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9136F1-CF44-ADF3-AB93-B985255CC9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2EF20-B99F-5E03-8ACA-8F71CB4168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EC52F-0F11-4096-254A-CCF856868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8485-38EB-4168-9C28-EFA3F0DF91B1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B0A86-9B58-F77A-FF51-6B77BFD55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E590F-A740-6E18-0F36-9972C8184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373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B57453-5F6E-6579-3EF1-91320BF71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9879E8-DDD2-2C85-ED5B-0B8046952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9C842-92F1-E2FF-C887-BF0376B7F6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F38485-38EB-4168-9C28-EFA3F0DF91B1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B2D47-1DDA-8912-D57E-359080250C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73540-6622-471D-22A8-78A0841236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680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1BB5D15-3FFC-FFCD-5856-322C546ADA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1354" y="316523"/>
            <a:ext cx="11535508" cy="6389077"/>
          </a:xfrm>
        </p:spPr>
        <p:txBody>
          <a:bodyPr/>
          <a:lstStyle/>
          <a:p>
            <a:r>
              <a:rPr lang="en-US" b="1" dirty="0"/>
              <a:t>UNIT – IV </a:t>
            </a:r>
          </a:p>
          <a:p>
            <a:pPr marL="457200" indent="-457200" algn="l">
              <a:buAutoNum type="arabicPeriod"/>
            </a:pPr>
            <a:r>
              <a:rPr lang="en-US" sz="2800" b="1" dirty="0"/>
              <a:t>Relationships Between Two Variables</a:t>
            </a:r>
          </a:p>
          <a:p>
            <a:pPr algn="l"/>
            <a:r>
              <a:rPr lang="en-US" b="1" dirty="0"/>
              <a:t>Definition</a:t>
            </a:r>
          </a:p>
          <a:p>
            <a:pPr algn="l"/>
            <a:r>
              <a:rPr lang="en-US" dirty="0"/>
              <a:t>Relationship between two variables means </a:t>
            </a:r>
            <a:r>
              <a:rPr lang="en-US" b="1" dirty="0"/>
              <a:t>how one variable changes when another variable changes</a:t>
            </a:r>
            <a:r>
              <a:rPr lang="en-US" dirty="0"/>
              <a:t>.</a:t>
            </a:r>
          </a:p>
          <a:p>
            <a:pPr lvl="0" algn="l"/>
            <a:r>
              <a:rPr lang="en-US" dirty="0"/>
              <a:t>If one increases and the other also increases → Positive relationship </a:t>
            </a:r>
          </a:p>
          <a:p>
            <a:pPr lvl="0" algn="l"/>
            <a:r>
              <a:rPr lang="en-US" dirty="0"/>
              <a:t>If one increases and the other decreases → Negative relationship </a:t>
            </a:r>
          </a:p>
          <a:p>
            <a:pPr lvl="0" algn="l"/>
            <a:r>
              <a:rPr lang="en-US" dirty="0"/>
              <a:t>If there is no pattern → No relationship</a:t>
            </a:r>
          </a:p>
          <a:p>
            <a:pPr lvl="0" algn="l"/>
            <a:endParaRPr lang="en-US" dirty="0"/>
          </a:p>
          <a:p>
            <a:pPr lvl="0" algn="l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A9556B-D5FF-DD97-070E-19E40FE46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4908" y="3457122"/>
            <a:ext cx="5359983" cy="324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058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3B232-4256-564C-846B-998CAC2FF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969" y="222738"/>
            <a:ext cx="11476893" cy="630701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Key Concepts</a:t>
            </a:r>
          </a:p>
          <a:p>
            <a:pPr marL="0" indent="0">
              <a:buNone/>
            </a:pPr>
            <a:r>
              <a:rPr lang="en-US" b="1" dirty="0"/>
              <a:t>1. Correlation</a:t>
            </a:r>
          </a:p>
          <a:p>
            <a:pPr marL="0" indent="0">
              <a:buNone/>
            </a:pPr>
            <a:r>
              <a:rPr lang="en-US" b="1" dirty="0"/>
              <a:t>Definition</a:t>
            </a:r>
          </a:p>
          <a:p>
            <a:pPr marL="0" indent="0">
              <a:buNone/>
            </a:pPr>
            <a:r>
              <a:rPr lang="en-US" dirty="0"/>
              <a:t>Correlation measures the </a:t>
            </a:r>
            <a:r>
              <a:rPr lang="en-US" b="1" dirty="0"/>
              <a:t>strength and direction</a:t>
            </a:r>
            <a:r>
              <a:rPr lang="en-US" dirty="0"/>
              <a:t> of the relationship between two numerical variables.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8915AE-5DA2-0666-2AA2-005297C4D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3437" y="2925599"/>
            <a:ext cx="7278116" cy="20862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9BDD89-68D9-3635-6C76-0B30A2DBC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969" y="2590800"/>
            <a:ext cx="3708160" cy="2755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551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FC60D-66BE-B937-8A18-5C4C7017D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692" y="375138"/>
            <a:ext cx="11465170" cy="624840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2. Causation</a:t>
            </a:r>
          </a:p>
          <a:p>
            <a:pPr marL="0" indent="0">
              <a:buNone/>
            </a:pPr>
            <a:r>
              <a:rPr lang="en-US" b="1" dirty="0"/>
              <a:t>Definition</a:t>
            </a:r>
          </a:p>
          <a:p>
            <a:pPr marL="0" indent="0">
              <a:buNone/>
            </a:pPr>
            <a:r>
              <a:rPr lang="en-US" dirty="0"/>
              <a:t>Causation means </a:t>
            </a:r>
            <a:r>
              <a:rPr lang="en-US" b="1" dirty="0"/>
              <a:t>one variable directly causes changes in another variable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pPr marL="0" indent="0">
              <a:buNone/>
            </a:pPr>
            <a:r>
              <a:rPr lang="en-US" dirty="0"/>
              <a:t>More Fertilizer → Better Crop Yield</a:t>
            </a:r>
          </a:p>
          <a:p>
            <a:pPr marL="0" indent="0">
              <a:buNone/>
            </a:pPr>
            <a:r>
              <a:rPr lang="en-US" dirty="0"/>
              <a:t>Here fertilizer directly affects crop growth.</a:t>
            </a:r>
          </a:p>
          <a:p>
            <a:pPr marL="0" indent="0">
              <a:buNone/>
            </a:pPr>
            <a:r>
              <a:rPr lang="en-US" b="1" dirty="0"/>
              <a:t>Important Point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Correlation </a:t>
            </a:r>
            <a:r>
              <a:rPr lang="en-US" b="1" dirty="0"/>
              <a:t>does not always mean</a:t>
            </a:r>
            <a:r>
              <a:rPr lang="en-US" dirty="0"/>
              <a:t> causation.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Ice Cream Sales ↑ and Drowning Cases ↑</a:t>
            </a:r>
          </a:p>
          <a:p>
            <a:pPr marL="0" indent="0">
              <a:buNone/>
            </a:pPr>
            <a:r>
              <a:rPr lang="en-US" dirty="0"/>
              <a:t>Both increase during summer, but ice cream does </a:t>
            </a:r>
            <a:r>
              <a:rPr lang="en-US" b="1" dirty="0"/>
              <a:t>not</a:t>
            </a:r>
            <a:r>
              <a:rPr lang="en-US" dirty="0"/>
              <a:t> cause drowning.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615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97A76-776B-D36F-D7EE-4F913430C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415" y="339968"/>
            <a:ext cx="11430000" cy="621323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3. Association</a:t>
            </a:r>
          </a:p>
          <a:p>
            <a:pPr marL="0" indent="0">
              <a:buNone/>
            </a:pPr>
            <a:r>
              <a:rPr lang="en-US" b="1" dirty="0"/>
              <a:t>Definition</a:t>
            </a:r>
          </a:p>
          <a:p>
            <a:pPr marL="0" indent="0">
              <a:buNone/>
            </a:pPr>
            <a:r>
              <a:rPr lang="en-US" dirty="0"/>
              <a:t>Association means two variables are related, but one may not necessarily cause the other.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pPr marL="0" indent="0">
              <a:buNone/>
            </a:pPr>
            <a:r>
              <a:rPr lang="en-US" dirty="0"/>
              <a:t>Umbrella Sales ↑ and Rainfall ↑</a:t>
            </a:r>
          </a:p>
          <a:p>
            <a:pPr marL="0" indent="0">
              <a:buNone/>
            </a:pPr>
            <a:r>
              <a:rPr lang="en-US" dirty="0"/>
              <a:t>Rain increases umbrella sales.</a:t>
            </a:r>
          </a:p>
          <a:p>
            <a:pPr marL="0" indent="0">
              <a:buNone/>
            </a:pPr>
            <a:r>
              <a:rPr lang="en-US" dirty="0"/>
              <a:t>There is an association.</a:t>
            </a:r>
          </a:p>
          <a:p>
            <a:pPr marL="0" indent="0">
              <a:buNone/>
            </a:pPr>
            <a:r>
              <a:rPr lang="en-US" b="1" dirty="0"/>
              <a:t>4. Independence</a:t>
            </a:r>
          </a:p>
          <a:p>
            <a:pPr marL="0" indent="0">
              <a:buNone/>
            </a:pPr>
            <a:r>
              <a:rPr lang="en-US" b="1" dirty="0"/>
              <a:t>Definition</a:t>
            </a:r>
          </a:p>
          <a:p>
            <a:pPr marL="0" indent="0">
              <a:buNone/>
            </a:pPr>
            <a:r>
              <a:rPr lang="en-US" dirty="0"/>
              <a:t>Two variables are independent if one variable does </a:t>
            </a:r>
            <a:r>
              <a:rPr lang="en-US" b="1" dirty="0"/>
              <a:t>not affect</a:t>
            </a:r>
            <a:r>
              <a:rPr lang="en-US" dirty="0"/>
              <a:t> the other.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pPr marL="0" indent="0">
              <a:buNone/>
            </a:pPr>
            <a:r>
              <a:rPr lang="en-US" dirty="0"/>
              <a:t>Student Roll Number and Height</a:t>
            </a:r>
          </a:p>
          <a:p>
            <a:pPr marL="0" indent="0">
              <a:buNone/>
            </a:pPr>
            <a:r>
              <a:rPr lang="en-US" dirty="0"/>
              <a:t>These variables have no relationship.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121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083E88-DE7C-FCCA-92DC-06683930A2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7169" y="550985"/>
            <a:ext cx="10222523" cy="5896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492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FAE1D-3AA5-5BA2-B37A-8E72299CD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185" y="246185"/>
            <a:ext cx="11652737" cy="6424246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Percentage Tables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 Bivariate Analysis Percentage tables (also known as proportion tables or relative frequency tables) are used to understand the distribution and relationship between two categorical variables. </a:t>
            </a:r>
          </a:p>
          <a:p>
            <a:pPr marL="0" indent="0" algn="just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They provide a clear and concise way to visualize the proportion of observations in each category combination of the two variables. </a:t>
            </a:r>
          </a:p>
          <a:p>
            <a:pPr marL="0" indent="0" algn="just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These tables help in identifying patterns, associations, and potential dependencies between the variables. </a:t>
            </a:r>
          </a:p>
          <a:p>
            <a:pPr marL="0" indent="0" algn="just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Key Concepts </a:t>
            </a:r>
          </a:p>
          <a:p>
            <a:pPr marL="0" indent="0" algn="just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Frequency Table: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 table that displays the count of occurrences for each combination of categories in two categorical variables. </a:t>
            </a:r>
          </a:p>
          <a:p>
            <a:pPr marL="0" indent="0" algn="just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Percentage Table: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 table that converts the counts from a frequency table into percentages, making it easier to interpret the proportions. </a:t>
            </a:r>
          </a:p>
          <a:p>
            <a:pPr marL="0" indent="0" algn="just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Row Percentage Table: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Shows the percentage of each row category within the corresponding column categories. </a:t>
            </a:r>
          </a:p>
          <a:p>
            <a:pPr marL="0" indent="0" algn="just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Column Percentage Table: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Shows the percentage of each column category within the corresponding row categories. </a:t>
            </a:r>
          </a:p>
          <a:p>
            <a:pPr marL="0" indent="0" algn="just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Overall Percentage Table: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Shows the percentage of each cell relative to the total number of observations. </a:t>
            </a:r>
          </a:p>
        </p:txBody>
      </p:sp>
    </p:spTree>
    <p:extLst>
      <p:ext uri="{BB962C8B-B14F-4D97-AF65-F5344CB8AC3E}">
        <p14:creationId xmlns:p14="http://schemas.microsoft.com/office/powerpoint/2010/main" val="3898924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18AE6-38CF-CF4C-E044-087F2CCCC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307" y="304800"/>
            <a:ext cx="11383107" cy="6365631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Relative Frequency Distribution</a:t>
            </a:r>
          </a:p>
          <a:p>
            <a:pPr marL="0" indent="0">
              <a:buNone/>
            </a:pPr>
            <a:r>
              <a:rPr lang="en-US" b="1" dirty="0"/>
              <a:t>Definition</a:t>
            </a:r>
          </a:p>
          <a:p>
            <a:pPr marL="0" indent="0">
              <a:buNone/>
            </a:pPr>
            <a:r>
              <a:rPr lang="en-US" dirty="0"/>
              <a:t>Relative frequency is the </a:t>
            </a:r>
            <a:r>
              <a:rPr lang="en-US" b="1" dirty="0"/>
              <a:t>proportion of observations</a:t>
            </a:r>
            <a:r>
              <a:rPr lang="en-US" dirty="0"/>
              <a:t> in each category.</a:t>
            </a:r>
          </a:p>
          <a:p>
            <a:pPr marL="0" indent="0">
              <a:buNone/>
            </a:pPr>
            <a:r>
              <a:rPr lang="en-US" dirty="0"/>
              <a:t>Formula</a:t>
            </a:r>
          </a:p>
          <a:p>
            <a:pPr marL="0" indent="0">
              <a:buNone/>
            </a:pPr>
            <a:r>
              <a:rPr lang="en-US" b="1" dirty="0"/>
              <a:t>Relative Frequency = Frequency / Total Frequency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7006F8-8E8F-C605-AE2D-D8711349D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677" y="2992836"/>
            <a:ext cx="8499231" cy="3431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496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BF0E10-7740-CD95-5563-FBFC2C81E8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61952"/>
            <a:ext cx="11430000" cy="6334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574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906364-0BC6-5BA2-2524-8CAB170997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084" y="316523"/>
            <a:ext cx="11636053" cy="6236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351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2BB588-7AB7-82B3-323C-D810BA2BEF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3077" y="304800"/>
            <a:ext cx="11535508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750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4386E9-E420-E3B4-9358-53D66E988A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292" y="351692"/>
            <a:ext cx="11793415" cy="627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555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B764FC-3480-6258-AA56-B7954F2F7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585" y="339969"/>
            <a:ext cx="11371384" cy="6213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102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339D72-9F65-B481-B7C0-1DC14B769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69" y="386862"/>
            <a:ext cx="11676185" cy="6142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019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E13D01-9B82-1C9C-A0F9-F4A550AB42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" y="293077"/>
            <a:ext cx="11500338" cy="50174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5DC65C-5DDC-55F4-756C-FF4D5E5F7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2058" y="5351585"/>
            <a:ext cx="5429234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5075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370A3B-BEA6-5F2D-9844-078AC5E5F0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015" y="375138"/>
            <a:ext cx="11641015" cy="609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8530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C017BA-78EB-1613-A0A8-777030048B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6524" y="257908"/>
            <a:ext cx="11605846" cy="633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808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A9207D-EDDD-BAFF-53BE-FEDDA47FAE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014" y="316522"/>
            <a:ext cx="11758247" cy="6342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332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2E614-B051-8E94-5665-A1E515FF4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246" y="339969"/>
            <a:ext cx="11429999" cy="6400800"/>
          </a:xfrm>
        </p:spPr>
        <p:txBody>
          <a:bodyPr/>
          <a:lstStyle/>
          <a:p>
            <a:r>
              <a:rPr lang="en-US" dirty="0"/>
              <a:t>Why Handle Several Batches?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F45861-EDA7-E8E9-E81A-48125DC39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077" y="1204601"/>
            <a:ext cx="11429999" cy="5442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6744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19F455-0A75-21C9-63AB-150D690443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2354" y="155671"/>
            <a:ext cx="10867292" cy="35480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1E7225-06DB-7780-5201-D934C44FA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0319" y="3892062"/>
            <a:ext cx="4658375" cy="281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1840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BBA9D-B3CA-9F32-944A-5951BFE35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684" y="222739"/>
            <a:ext cx="10515600" cy="5919055"/>
          </a:xfrm>
        </p:spPr>
        <p:txBody>
          <a:bodyPr/>
          <a:lstStyle/>
          <a:p>
            <a:r>
              <a:rPr lang="en-US" dirty="0"/>
              <a:t>Compare Distribution Across Batches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72FE6B-0422-5C73-8909-F096D285C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83" y="832337"/>
            <a:ext cx="10515599" cy="5568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0921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DD576-8D5E-AF2D-2E71-B8E04FC73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631" y="316523"/>
            <a:ext cx="11535507" cy="6400800"/>
          </a:xfrm>
        </p:spPr>
        <p:txBody>
          <a:bodyPr/>
          <a:lstStyle/>
          <a:p>
            <a:r>
              <a:rPr lang="en-US" dirty="0"/>
              <a:t>Handling Several Batches Using Stratified 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E3D4EB-8345-4E82-3C20-47A499348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769" y="922075"/>
            <a:ext cx="10597662" cy="561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2235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B7C32-08AB-E34E-C3E0-5D5FD3E96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0308"/>
            <a:ext cx="10515600" cy="576665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Key EDA Techniques for Multiple Batches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BF827D-5C53-6E89-11DC-0E1FF3F89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6150" y="1318917"/>
            <a:ext cx="8014311" cy="4659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1211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5E4E4-7C83-A5FE-EDBB-037875761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6862"/>
            <a:ext cx="10515600" cy="57901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Resistant Lines in EDA</a:t>
            </a:r>
          </a:p>
          <a:p>
            <a:pPr marL="0" indent="0">
              <a:buNone/>
            </a:pPr>
            <a:r>
              <a:rPr lang="en-US" b="1" dirty="0"/>
              <a:t>1. What is a Resistant Line?</a:t>
            </a:r>
          </a:p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resistant line</a:t>
            </a:r>
            <a:r>
              <a:rPr lang="en-US" dirty="0"/>
              <a:t> is a regression line designed to show the </a:t>
            </a:r>
            <a:r>
              <a:rPr lang="en-US" b="1" dirty="0"/>
              <a:t>central trend of the data without being strongly affected by extreme values (outliers)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It is also called a </a:t>
            </a:r>
            <a:r>
              <a:rPr lang="en-US" b="1" dirty="0"/>
              <a:t>robust regression line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Simple Meaning</a:t>
            </a:r>
          </a:p>
          <a:p>
            <a:pPr marL="0" indent="0">
              <a:buNone/>
            </a:pPr>
            <a:r>
              <a:rPr lang="en-US" dirty="0"/>
              <a:t>A resistant line tries to represent the </a:t>
            </a:r>
            <a:r>
              <a:rPr lang="en-US" b="1" dirty="0"/>
              <a:t>majority of the data</a:t>
            </a:r>
            <a:r>
              <a:rPr lang="en-US" dirty="0"/>
              <a:t>, rather than allowing a few unusual observations to pull the line toward them.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3705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7870A-A4A9-3A33-1C37-ED03DCCF82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138" y="527538"/>
            <a:ext cx="11289324" cy="56494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Why Do We Need Resistant Lines?</a:t>
            </a:r>
          </a:p>
          <a:p>
            <a:pPr marL="0" indent="0">
              <a:buNone/>
            </a:pPr>
            <a:r>
              <a:rPr lang="en-US" dirty="0"/>
              <a:t>Consider a dataset showing:</a:t>
            </a:r>
          </a:p>
          <a:p>
            <a:pPr marL="0" indent="0">
              <a:buNone/>
            </a:pPr>
            <a:r>
              <a:rPr lang="en-US" b="1" dirty="0"/>
              <a:t>House Size vs House Price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Most houses follow a normal pattern:</a:t>
            </a:r>
          </a:p>
          <a:p>
            <a:pPr marL="0" lvl="0" indent="0">
              <a:buNone/>
            </a:pPr>
            <a:r>
              <a:rPr lang="en-US" dirty="0"/>
              <a:t>Small house → Lower price </a:t>
            </a:r>
          </a:p>
          <a:p>
            <a:pPr marL="0" lvl="0" indent="0">
              <a:buNone/>
            </a:pPr>
            <a:r>
              <a:rPr lang="en-US" dirty="0"/>
              <a:t>Large house → Higher price </a:t>
            </a:r>
          </a:p>
          <a:p>
            <a:pPr marL="0" indent="0">
              <a:buNone/>
            </a:pPr>
            <a:r>
              <a:rPr lang="en-US" dirty="0"/>
              <a:t>But suppose one luxury house has an </a:t>
            </a:r>
            <a:r>
              <a:rPr lang="en-US" b="1" dirty="0"/>
              <a:t>extremely high price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A traditional </a:t>
            </a:r>
            <a:r>
              <a:rPr lang="en-US" b="1" dirty="0"/>
              <a:t>least-squares regression line</a:t>
            </a:r>
            <a:r>
              <a:rPr lang="en-US" dirty="0"/>
              <a:t> can be pulled toward this unusual house.</a:t>
            </a:r>
          </a:p>
          <a:p>
            <a:pPr marL="0" indent="0">
              <a:buNone/>
            </a:pPr>
            <a:r>
              <a:rPr lang="en-US" dirty="0"/>
              <a:t>A resistant line reduces the influence of that outlier.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316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553</Words>
  <Application>Microsoft Office PowerPoint</Application>
  <PresentationFormat>Widescreen</PresentationFormat>
  <Paragraphs>68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 haran</dc:creator>
  <cp:lastModifiedBy>hari haran</cp:lastModifiedBy>
  <cp:revision>4</cp:revision>
  <dcterms:created xsi:type="dcterms:W3CDTF">2026-08-03T05:33:01Z</dcterms:created>
  <dcterms:modified xsi:type="dcterms:W3CDTF">2026-08-17T05:28:56Z</dcterms:modified>
</cp:coreProperties>
</file>