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0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0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6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3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81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8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4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7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9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8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341F6-69A3-4C4F-BD89-BF72897E1E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04800"/>
            <a:ext cx="8382000" cy="632460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What is </a:t>
            </a:r>
            <a:r>
              <a:rPr lang="en-US" b="1" dirty="0" err="1" smtClean="0">
                <a:solidFill>
                  <a:schemeClr val="tx1"/>
                </a:solidFill>
              </a:rPr>
              <a:t>Univariate</a:t>
            </a:r>
            <a:r>
              <a:rPr lang="en-US" b="1" dirty="0" smtClean="0">
                <a:solidFill>
                  <a:schemeClr val="tx1"/>
                </a:solidFill>
              </a:rPr>
              <a:t> Analysis?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</a:rPr>
              <a:t>Analysis of </a:t>
            </a:r>
            <a:r>
              <a:rPr lang="en-US" b="1" dirty="0" smtClean="0">
                <a:solidFill>
                  <a:schemeClr val="tx1"/>
                </a:solidFill>
              </a:rPr>
              <a:t>one variable at a time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</a:rPr>
              <a:t>Used to understand the characteristics of a dataset. 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</a:rPr>
              <a:t>Helps identify: </a:t>
            </a:r>
          </a:p>
          <a:p>
            <a:pPr lvl="1" algn="l"/>
            <a:r>
              <a:rPr lang="en-US" dirty="0" smtClean="0">
                <a:solidFill>
                  <a:schemeClr val="tx1"/>
                </a:solidFill>
              </a:rPr>
              <a:t>Central tendency </a:t>
            </a:r>
          </a:p>
          <a:p>
            <a:pPr lvl="1" algn="l"/>
            <a:r>
              <a:rPr lang="en-US" dirty="0" smtClean="0">
                <a:solidFill>
                  <a:schemeClr val="tx1"/>
                </a:solidFill>
              </a:rPr>
              <a:t>Spread of data </a:t>
            </a:r>
          </a:p>
          <a:p>
            <a:pPr lvl="1" algn="l"/>
            <a:r>
              <a:rPr lang="en-US" dirty="0" smtClean="0">
                <a:solidFill>
                  <a:schemeClr val="tx1"/>
                </a:solidFill>
              </a:rPr>
              <a:t>Distribution pattern </a:t>
            </a:r>
          </a:p>
          <a:p>
            <a:pPr lvl="1" algn="l"/>
            <a:r>
              <a:rPr lang="en-US" dirty="0" smtClean="0">
                <a:solidFill>
                  <a:schemeClr val="tx1"/>
                </a:solidFill>
              </a:rPr>
              <a:t>Outliers </a:t>
            </a:r>
          </a:p>
          <a:p>
            <a:pPr algn="l"/>
            <a:r>
              <a:rPr lang="en-US" b="1" dirty="0" smtClean="0">
                <a:solidFill>
                  <a:schemeClr val="tx1"/>
                </a:solidFill>
              </a:rPr>
              <a:t>Example:</a:t>
            </a:r>
            <a:r>
              <a:rPr lang="en-US" dirty="0" smtClean="0">
                <a:solidFill>
                  <a:schemeClr val="tx1"/>
                </a:solidFill>
              </a:rPr>
              <a:t> Analyzing students' marks in a class.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04800"/>
            <a:ext cx="8382000" cy="6324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Using </a:t>
            </a:r>
            <a:r>
              <a:rPr lang="en-US" b="1" dirty="0" err="1" smtClean="0">
                <a:solidFill>
                  <a:schemeClr val="tx1"/>
                </a:solidFill>
              </a:rPr>
              <a:t>Univariate</a:t>
            </a:r>
            <a:r>
              <a:rPr lang="en-US" b="1" dirty="0" smtClean="0">
                <a:solidFill>
                  <a:schemeClr val="tx1"/>
                </a:solidFill>
              </a:rPr>
              <a:t> Analysis</a:t>
            </a:r>
            <a:r>
              <a:rPr lang="en-US" dirty="0" smtClean="0">
                <a:solidFill>
                  <a:schemeClr val="tx1"/>
                </a:solidFill>
              </a:rPr>
              <a:t>, the teacher can answer the following questions: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✅ </a:t>
            </a:r>
            <a:r>
              <a:rPr lang="en-US" b="1" dirty="0" smtClean="0">
                <a:solidFill>
                  <a:schemeClr val="tx1"/>
                </a:solidFill>
              </a:rPr>
              <a:t>Central Tendency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What is the average mark of the class?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Mean = 68 marks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Median = 70 marks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Mode = 75 marks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✅ </a:t>
            </a:r>
            <a:r>
              <a:rPr lang="en-US" b="1" dirty="0" smtClean="0">
                <a:solidFill>
                  <a:schemeClr val="tx1"/>
                </a:solidFill>
              </a:rPr>
              <a:t>Spread of Data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Are the marks closely grouped or widely spread?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Standard Deviation = 12 marks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✅ </a:t>
            </a:r>
            <a:r>
              <a:rPr lang="en-US" b="1" dirty="0" smtClean="0">
                <a:solidFill>
                  <a:schemeClr val="tx1"/>
                </a:solidFill>
              </a:rPr>
              <a:t>Distribution Pattern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Do most students score around 70?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Is the distribution normal, skewed, or bimodal?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✅ </a:t>
            </a:r>
            <a:r>
              <a:rPr lang="en-US" b="1" dirty="0" smtClean="0">
                <a:solidFill>
                  <a:schemeClr val="tx1"/>
                </a:solidFill>
              </a:rPr>
              <a:t>Outlier Detection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Are there unusually low or high scores?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Example: One student scored </a:t>
            </a:r>
            <a:r>
              <a:rPr lang="en-US" b="1" dirty="0" smtClean="0">
                <a:solidFill>
                  <a:schemeClr val="tx1"/>
                </a:solidFill>
              </a:rPr>
              <a:t>15 marks</a:t>
            </a:r>
            <a:r>
              <a:rPr lang="en-US" dirty="0" smtClean="0">
                <a:solidFill>
                  <a:schemeClr val="tx1"/>
                </a:solidFill>
              </a:rPr>
              <a:t> while most scored between 50–90.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The score of 15 may be identified as an </a:t>
            </a:r>
            <a:r>
              <a:rPr lang="en-US" b="1" dirty="0" smtClean="0">
                <a:solidFill>
                  <a:schemeClr val="tx1"/>
                </a:solidFill>
              </a:rPr>
              <a:t>outlier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24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686800" cy="6324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 smtClean="0"/>
              <a:t>Types of Distribution with Real-Time Examples </a:t>
            </a:r>
          </a:p>
          <a:p>
            <a:pPr marL="0" indent="0">
              <a:buNone/>
            </a:pPr>
            <a:r>
              <a:rPr lang="en-US" sz="3400" b="1" dirty="0" smtClean="0"/>
              <a:t>1. Normal Distribution (Bell-Shaped Distribution)</a:t>
            </a:r>
          </a:p>
          <a:p>
            <a:pPr marL="0" indent="0">
              <a:buNone/>
            </a:pPr>
            <a:r>
              <a:rPr lang="en-US" sz="3400" b="1" dirty="0" smtClean="0"/>
              <a:t>Description:</a:t>
            </a:r>
            <a:endParaRPr lang="en-US" sz="3400" dirty="0" smtClean="0"/>
          </a:p>
          <a:p>
            <a:pPr marL="0" indent="0">
              <a:buNone/>
            </a:pPr>
            <a:r>
              <a:rPr lang="en-US" sz="3400" dirty="0" smtClean="0"/>
              <a:t>Data is symmetric around the center. </a:t>
            </a:r>
          </a:p>
          <a:p>
            <a:pPr marL="0" indent="0">
              <a:buNone/>
            </a:pPr>
            <a:r>
              <a:rPr lang="en-US" sz="3400" dirty="0" smtClean="0"/>
              <a:t>Mean = Median = Mode. </a:t>
            </a:r>
          </a:p>
          <a:p>
            <a:pPr marL="0" indent="0">
              <a:buNone/>
            </a:pPr>
            <a:r>
              <a:rPr lang="en-US" sz="3400" dirty="0" smtClean="0"/>
              <a:t>Most values are concentrated near the average. </a:t>
            </a:r>
          </a:p>
          <a:p>
            <a:pPr marL="0" indent="0">
              <a:buNone/>
            </a:pPr>
            <a:r>
              <a:rPr lang="en-US" sz="3400" b="1" dirty="0" smtClean="0"/>
              <a:t>Real-Time Example:</a:t>
            </a:r>
            <a:r>
              <a:rPr lang="en-US" sz="3400" dirty="0" smtClean="0"/>
              <a:t/>
            </a:r>
            <a:br>
              <a:rPr lang="en-US" sz="3400" dirty="0" smtClean="0"/>
            </a:br>
            <a:r>
              <a:rPr lang="en-US" sz="3400" dirty="0" smtClean="0"/>
              <a:t>📚 </a:t>
            </a:r>
            <a:r>
              <a:rPr lang="en-US" sz="3400" b="1" dirty="0" smtClean="0"/>
              <a:t>Students' Exam Scores</a:t>
            </a:r>
            <a:endParaRPr lang="en-US" sz="3400" dirty="0" smtClean="0"/>
          </a:p>
          <a:p>
            <a:pPr marL="0" indent="0">
              <a:buNone/>
            </a:pPr>
            <a:r>
              <a:rPr lang="en-US" sz="3400" dirty="0" smtClean="0"/>
              <a:t>In a large class, most students score around 70–80 marks. </a:t>
            </a:r>
          </a:p>
          <a:p>
            <a:pPr marL="0" indent="0">
              <a:buNone/>
            </a:pPr>
            <a:r>
              <a:rPr lang="en-US" sz="3400" dirty="0" smtClean="0"/>
              <a:t>Few students score very low or very high. </a:t>
            </a:r>
          </a:p>
          <a:p>
            <a:pPr marL="0" indent="0">
              <a:buNone/>
            </a:pPr>
            <a:r>
              <a:rPr lang="en-US" sz="3400" dirty="0" smtClean="0"/>
              <a:t>The graph forms a bell shape. </a:t>
            </a:r>
          </a:p>
          <a:p>
            <a:pPr marL="0" indent="0">
              <a:buNone/>
            </a:pPr>
            <a:r>
              <a:rPr lang="en-US" sz="3400" b="1" dirty="0" smtClean="0"/>
              <a:t>Example Scores:</a:t>
            </a:r>
            <a:r>
              <a:rPr lang="en-US" sz="3400" dirty="0" smtClean="0"/>
              <a:t/>
            </a:r>
            <a:br>
              <a:rPr lang="en-US" sz="3400" dirty="0" smtClean="0"/>
            </a:br>
            <a:r>
              <a:rPr lang="en-US" sz="3400" dirty="0" smtClean="0"/>
              <a:t>60, 65, 68, 70, 72, 75, 78, 80, 85</a:t>
            </a:r>
          </a:p>
          <a:p>
            <a:pPr marL="0" indent="0">
              <a:buNone/>
            </a:pPr>
            <a:r>
              <a:rPr lang="en-US" sz="3400" b="1" dirty="0" smtClean="0"/>
              <a:t>Applications:</a:t>
            </a:r>
            <a:endParaRPr lang="en-US" sz="3400" dirty="0" smtClean="0"/>
          </a:p>
          <a:p>
            <a:pPr marL="0" indent="0">
              <a:buNone/>
            </a:pPr>
            <a:r>
              <a:rPr lang="en-US" sz="3400" dirty="0" smtClean="0"/>
              <a:t>IQ scores </a:t>
            </a:r>
          </a:p>
          <a:p>
            <a:pPr marL="0" indent="0">
              <a:buNone/>
            </a:pPr>
            <a:r>
              <a:rPr lang="en-US" sz="3400" dirty="0" smtClean="0"/>
              <a:t>Human heights </a:t>
            </a:r>
          </a:p>
          <a:p>
            <a:pPr marL="0" indent="0">
              <a:buNone/>
            </a:pPr>
            <a:r>
              <a:rPr lang="en-US" sz="3400" dirty="0" smtClean="0"/>
              <a:t>Measurement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2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172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2. Uniform Distribution</a:t>
            </a:r>
          </a:p>
          <a:p>
            <a:pPr marL="0" indent="0">
              <a:buNone/>
            </a:pPr>
            <a:r>
              <a:rPr lang="en-US" b="1" dirty="0" smtClean="0"/>
              <a:t>Description: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Every value has an equal chance of occurring. </a:t>
            </a:r>
          </a:p>
          <a:p>
            <a:pPr marL="0" indent="0">
              <a:buNone/>
            </a:pPr>
            <a:r>
              <a:rPr lang="en-US" dirty="0" smtClean="0"/>
              <a:t>The graph appears flat. </a:t>
            </a:r>
          </a:p>
          <a:p>
            <a:pPr marL="0" indent="0">
              <a:buNone/>
            </a:pPr>
            <a:r>
              <a:rPr lang="en-US" b="1" dirty="0" smtClean="0"/>
              <a:t>Real-Time 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🎲 </a:t>
            </a:r>
            <a:r>
              <a:rPr lang="en-US" b="1" dirty="0" smtClean="0"/>
              <a:t>Rolling a Fair Dice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Outcomes: 1, 2, 3, 4, 5, 6 </a:t>
            </a:r>
          </a:p>
          <a:p>
            <a:pPr marL="0" indent="0">
              <a:buNone/>
            </a:pPr>
            <a:r>
              <a:rPr lang="en-US" dirty="0" smtClean="0"/>
              <a:t>Each number has an equal probability (1/6). </a:t>
            </a:r>
          </a:p>
          <a:p>
            <a:pPr marL="0" indent="0">
              <a:buNone/>
            </a:pPr>
            <a:r>
              <a:rPr lang="en-US" b="1" dirty="0" smtClean="0"/>
              <a:t>Applications: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Lottery draws </a:t>
            </a:r>
          </a:p>
          <a:p>
            <a:pPr marL="0" indent="0">
              <a:buNone/>
            </a:pPr>
            <a:r>
              <a:rPr lang="en-US" dirty="0" smtClean="0"/>
              <a:t>Random number 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1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400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3. Skewed Distribution</a:t>
            </a:r>
          </a:p>
          <a:p>
            <a:pPr marL="0" indent="0">
              <a:buNone/>
            </a:pPr>
            <a:r>
              <a:rPr lang="en-US" b="1" dirty="0" smtClean="0"/>
              <a:t>Description: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Data is not symmetric. </a:t>
            </a:r>
          </a:p>
          <a:p>
            <a:pPr marL="0" indent="0">
              <a:buNone/>
            </a:pPr>
            <a:r>
              <a:rPr lang="en-US" dirty="0" smtClean="0"/>
              <a:t>One tail is longer than the other. </a:t>
            </a:r>
          </a:p>
          <a:p>
            <a:pPr marL="0" indent="0">
              <a:buNone/>
            </a:pPr>
            <a:r>
              <a:rPr lang="en-US" b="1" dirty="0" smtClean="0"/>
              <a:t>(a) Positive Skew (Right-Skewed)</a:t>
            </a:r>
          </a:p>
          <a:p>
            <a:pPr marL="0" indent="0">
              <a:buNone/>
            </a:pPr>
            <a:r>
              <a:rPr lang="en-US" dirty="0" smtClean="0"/>
              <a:t>Tail extends to the right. </a:t>
            </a:r>
          </a:p>
          <a:p>
            <a:pPr marL="0" indent="0">
              <a:buNone/>
            </a:pPr>
            <a:r>
              <a:rPr lang="en-US" dirty="0" smtClean="0"/>
              <a:t>Mean &gt; Median &gt; Mode. </a:t>
            </a:r>
          </a:p>
          <a:p>
            <a:pPr marL="0" indent="0">
              <a:buNone/>
            </a:pPr>
            <a:r>
              <a:rPr lang="en-US" b="1" dirty="0" smtClean="0"/>
              <a:t>Real-Time 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💰 </a:t>
            </a:r>
            <a:r>
              <a:rPr lang="en-US" b="1" dirty="0" smtClean="0"/>
              <a:t>Employee Salaries in a Company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Most employees earn ₹30,000–₹50,000. </a:t>
            </a:r>
          </a:p>
          <a:p>
            <a:pPr marL="0" indent="0">
              <a:buNone/>
            </a:pPr>
            <a:r>
              <a:rPr lang="en-US" dirty="0" smtClean="0"/>
              <a:t>A few managers earn ₹2,00,000+. </a:t>
            </a:r>
          </a:p>
          <a:p>
            <a:pPr marL="0" indent="0">
              <a:buNone/>
            </a:pPr>
            <a:r>
              <a:rPr lang="en-US" dirty="0" smtClean="0"/>
              <a:t>High salaries pull the distribution to the right.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(b) Negative Skew (Left-Skewed)</a:t>
            </a:r>
          </a:p>
          <a:p>
            <a:pPr marL="0" indent="0">
              <a:buNone/>
            </a:pPr>
            <a:r>
              <a:rPr lang="en-US" dirty="0" smtClean="0"/>
              <a:t>Tail extends to the left. </a:t>
            </a:r>
          </a:p>
          <a:p>
            <a:pPr marL="0" indent="0">
              <a:buNone/>
            </a:pPr>
            <a:r>
              <a:rPr lang="en-US" dirty="0" smtClean="0"/>
              <a:t>Mean &lt; Median &lt; Mode. </a:t>
            </a:r>
          </a:p>
          <a:p>
            <a:pPr marL="0" indent="0">
              <a:buNone/>
            </a:pPr>
            <a:r>
              <a:rPr lang="en-US" b="1" dirty="0" smtClean="0"/>
              <a:t>Real-Time 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🎓 </a:t>
            </a:r>
            <a:r>
              <a:rPr lang="en-US" b="1" dirty="0" smtClean="0"/>
              <a:t>Easy Examination Marks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Most students score above 80. </a:t>
            </a:r>
          </a:p>
          <a:p>
            <a:pPr marL="0" indent="0">
              <a:buNone/>
            </a:pPr>
            <a:r>
              <a:rPr lang="en-US" dirty="0" smtClean="0"/>
              <a:t>Very few score below 40. </a:t>
            </a:r>
          </a:p>
          <a:p>
            <a:pPr marL="0" indent="0">
              <a:buNone/>
            </a:pPr>
            <a:r>
              <a:rPr lang="en-US" dirty="0" smtClean="0"/>
              <a:t>Distribution tail extends toward lower marks.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914400"/>
            <a:ext cx="39624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601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534400" cy="6324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4. Bimodal Distribution</a:t>
            </a:r>
          </a:p>
          <a:p>
            <a:pPr marL="0" indent="0">
              <a:buNone/>
            </a:pPr>
            <a:r>
              <a:rPr lang="en-US" b="1" dirty="0" smtClean="0"/>
              <a:t>Description: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Distribution contains two peaks (two modes). </a:t>
            </a:r>
          </a:p>
          <a:p>
            <a:pPr marL="0" indent="0">
              <a:buNone/>
            </a:pPr>
            <a:r>
              <a:rPr lang="en-US" dirty="0" smtClean="0"/>
              <a:t>Indicates two distinct groups in the data.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Real-Time 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🚗 </a:t>
            </a:r>
            <a:r>
              <a:rPr lang="en-US" b="1" dirty="0" smtClean="0"/>
              <a:t>Daily Traffic Speed Analysis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Morning traffic speed average = 30 km/hr. </a:t>
            </a:r>
          </a:p>
          <a:p>
            <a:pPr marL="0" indent="0">
              <a:buNone/>
            </a:pPr>
            <a:r>
              <a:rPr lang="en-US" dirty="0" smtClean="0"/>
              <a:t>Night traffic speed average = 70 km/hr. </a:t>
            </a:r>
          </a:p>
          <a:p>
            <a:pPr marL="0" indent="0">
              <a:buNone/>
            </a:pPr>
            <a:r>
              <a:rPr lang="en-US" dirty="0" smtClean="0"/>
              <a:t>Two peaks appear in the graph.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Applications: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Customer segmentation </a:t>
            </a:r>
          </a:p>
          <a:p>
            <a:pPr marL="0" indent="0">
              <a:buNone/>
            </a:pPr>
            <a:r>
              <a:rPr lang="en-US" dirty="0" smtClean="0"/>
              <a:t>Population studies </a:t>
            </a:r>
          </a:p>
          <a:p>
            <a:pPr marL="0" indent="0">
              <a:buNone/>
            </a:pPr>
            <a:r>
              <a:rPr lang="en-US" dirty="0" smtClean="0"/>
              <a:t>Traffic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10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Detecting Outliers Using IQR</a:t>
            </a:r>
          </a:p>
          <a:p>
            <a:pPr marL="0" indent="0">
              <a:buNone/>
            </a:pPr>
            <a:r>
              <a:rPr lang="en-US" b="1" dirty="0" smtClean="0"/>
              <a:t>Interquartile Range (IQR)</a:t>
            </a:r>
          </a:p>
          <a:p>
            <a:pPr marL="0" indent="0">
              <a:buNone/>
            </a:pPr>
            <a:r>
              <a:rPr lang="en-US" dirty="0" smtClean="0"/>
              <a:t>IQR=Q3−Q1</a:t>
            </a:r>
          </a:p>
          <a:p>
            <a:pPr marL="0" indent="0">
              <a:buNone/>
            </a:pPr>
            <a:r>
              <a:rPr lang="en-US" b="1" dirty="0" smtClean="0"/>
              <a:t>Outlier Limits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Lower Bound:</a:t>
            </a:r>
          </a:p>
          <a:p>
            <a:pPr marL="0" indent="0">
              <a:buNone/>
            </a:pPr>
            <a:r>
              <a:rPr lang="en-US" dirty="0" smtClean="0"/>
              <a:t>Q1−1.5(IQR) </a:t>
            </a:r>
          </a:p>
          <a:p>
            <a:pPr marL="0" indent="0">
              <a:buNone/>
            </a:pPr>
            <a:r>
              <a:rPr lang="en-US" dirty="0" smtClean="0"/>
              <a:t>Upper Bound:</a:t>
            </a:r>
          </a:p>
          <a:p>
            <a:pPr marL="0" indent="0">
              <a:buNone/>
            </a:pPr>
            <a:r>
              <a:rPr lang="en-US" dirty="0" smtClean="0"/>
              <a:t>Q3+1.5(IQR)</a:t>
            </a:r>
          </a:p>
          <a:p>
            <a:pPr marL="0" indent="0">
              <a:buNone/>
            </a:pPr>
            <a:r>
              <a:rPr lang="en-US" dirty="0" smtClean="0"/>
              <a:t> Values outside these limits are considered outliers.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0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64008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Real-Time Example: Students' Marks</a:t>
            </a:r>
          </a:p>
          <a:p>
            <a:r>
              <a:rPr lang="en-US" dirty="0" smtClean="0"/>
              <a:t>Consider the marks of 10 students:</a:t>
            </a:r>
          </a:p>
          <a:p>
            <a:r>
              <a:rPr lang="en-US" b="1" dirty="0" smtClean="0"/>
              <a:t>45, 50, 52, 55, 58, 60, 62, 65, 68, 95</a:t>
            </a:r>
            <a:endParaRPr lang="en-US" dirty="0" smtClean="0"/>
          </a:p>
          <a:p>
            <a:r>
              <a:rPr lang="en-US" b="1" dirty="0" smtClean="0"/>
              <a:t>Step 1: Find Q1 and Q3</a:t>
            </a:r>
          </a:p>
          <a:p>
            <a:r>
              <a:rPr lang="en-US" dirty="0" smtClean="0"/>
              <a:t>Lower Half: 45, 50, 52, 55, 58</a:t>
            </a:r>
          </a:p>
          <a:p>
            <a:r>
              <a:rPr lang="en-US" b="1" dirty="0" smtClean="0"/>
              <a:t>Q1 = 52</a:t>
            </a:r>
            <a:endParaRPr lang="en-US" dirty="0" smtClean="0"/>
          </a:p>
          <a:p>
            <a:r>
              <a:rPr lang="en-US" dirty="0" smtClean="0"/>
              <a:t>Upper Half: 60, 62, 65, 68, 95</a:t>
            </a:r>
          </a:p>
          <a:p>
            <a:r>
              <a:rPr lang="en-US" b="1" dirty="0" smtClean="0"/>
              <a:t>Q3 = 65</a:t>
            </a:r>
            <a:endParaRPr lang="en-US" dirty="0" smtClean="0"/>
          </a:p>
          <a:p>
            <a:r>
              <a:rPr lang="en-US" b="1" dirty="0" smtClean="0"/>
              <a:t>Step 2: Calculate IQR</a:t>
            </a:r>
          </a:p>
          <a:p>
            <a:r>
              <a:rPr lang="en-US" dirty="0" smtClean="0"/>
              <a:t>IQR=Q3−Q1IQR = Q3 - Q1IQR=Q3−Q1 IQR=65−52=13IQR = 65 - 52 = 13IQR=65−52=13 </a:t>
            </a:r>
            <a:r>
              <a:rPr lang="en-US" b="1" dirty="0" smtClean="0"/>
              <a:t>Step 3: Calculate Outlier Limits</a:t>
            </a:r>
          </a:p>
          <a:p>
            <a:r>
              <a:rPr lang="en-US" b="1" dirty="0" smtClean="0"/>
              <a:t>Lower Bound</a:t>
            </a:r>
            <a:endParaRPr lang="en-US" dirty="0" smtClean="0"/>
          </a:p>
          <a:p>
            <a:r>
              <a:rPr lang="en-US" dirty="0" smtClean="0"/>
              <a:t>Q1−1.5(IQR)Q1 - 1.5(IQR)Q1−1.5(IQR) 52−1.5(13)52 - 1.5(13)52−1.5(13) 52−19.5=32.552 - 19.5 = 32.552−19.5=32.5 </a:t>
            </a:r>
            <a:r>
              <a:rPr lang="en-US" b="1" dirty="0" smtClean="0"/>
              <a:t>Upper Bound</a:t>
            </a:r>
            <a:endParaRPr lang="en-US" dirty="0" smtClean="0"/>
          </a:p>
          <a:p>
            <a:r>
              <a:rPr lang="en-US" dirty="0" smtClean="0"/>
              <a:t>Q3+1.5(IQR)Q3 + 1.5(IQR)Q3+1.5(IQR) 65+19.5=84.565 + 19.5 = 84.565+19.5=84.5 </a:t>
            </a:r>
            <a:r>
              <a:rPr lang="en-US" b="1" dirty="0" smtClean="0"/>
              <a:t>Step 4: Identify Outliers</a:t>
            </a:r>
          </a:p>
          <a:p>
            <a:r>
              <a:rPr lang="en-US" dirty="0" smtClean="0"/>
              <a:t>Valid Range:</a:t>
            </a:r>
          </a:p>
          <a:p>
            <a:r>
              <a:rPr lang="en-US" dirty="0" smtClean="0"/>
              <a:t>32.5≤x≤84.532.5 \</a:t>
            </a:r>
            <a:r>
              <a:rPr lang="en-US" dirty="0" err="1" smtClean="0"/>
              <a:t>leq</a:t>
            </a:r>
            <a:r>
              <a:rPr lang="en-US" dirty="0" smtClean="0"/>
              <a:t> x \</a:t>
            </a:r>
            <a:r>
              <a:rPr lang="en-US" dirty="0" err="1" smtClean="0"/>
              <a:t>leq</a:t>
            </a:r>
            <a:r>
              <a:rPr lang="en-US" dirty="0" smtClean="0"/>
              <a:t> 84.532.5≤x≤84.5 Marks:</a:t>
            </a:r>
          </a:p>
          <a:p>
            <a:r>
              <a:rPr lang="en-US" dirty="0" smtClean="0"/>
              <a:t>45, 50, 52, 55, 58, 60, 62, 65, 68, </a:t>
            </a:r>
            <a:r>
              <a:rPr lang="en-US" b="1" dirty="0" smtClean="0"/>
              <a:t>95</a:t>
            </a:r>
            <a:endParaRPr lang="en-US" dirty="0" smtClean="0"/>
          </a:p>
          <a:p>
            <a:r>
              <a:rPr lang="en-US" dirty="0" smtClean="0"/>
              <a:t>Since </a:t>
            </a:r>
            <a:r>
              <a:rPr lang="en-US" b="1" dirty="0" smtClean="0"/>
              <a:t>95 &gt; 84.5</a:t>
            </a:r>
            <a:r>
              <a:rPr lang="en-US" dirty="0" smtClean="0"/>
              <a:t>, it is an </a:t>
            </a:r>
            <a:r>
              <a:rPr lang="en-US" b="1" dirty="0" smtClean="0"/>
              <a:t>outlier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✅ </a:t>
            </a:r>
            <a:r>
              <a:rPr lang="en-US" b="1" dirty="0" smtClean="0"/>
              <a:t>Outlier = 95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4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865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513</Words>
  <Application>Microsoft Office PowerPoint</Application>
  <PresentationFormat>On-screen Show (4:3)</PresentationFormat>
  <Paragraphs>110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2026-07-14T09:44:38Z</dcterms:created>
  <dcterms:modified xsi:type="dcterms:W3CDTF">2026-07-14T10:18:34Z</dcterms:modified>
</cp:coreProperties>
</file>